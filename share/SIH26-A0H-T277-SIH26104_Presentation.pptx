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A6E074-3CEC-433E-8672-E52B734DACBA}" v="1" dt="2026-08-30T09:54:11.0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47" y="39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 algn="ctr"/>
            <a:r>
              <a:rPr sz="4200" b="1" dirty="0" err="1">
                <a:solidFill>
                  <a:srgbClr val="324450"/>
                </a:solidFill>
                <a:latin typeface="Arial"/>
              </a:rPr>
              <a:t>VocaShield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3985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</a:pPr>
            <a:r>
              <a:rPr sz="1700" b="1" dirty="0">
                <a:solidFill>
                  <a:srgbClr val="324450"/>
                </a:solidFill>
                <a:latin typeface="Arial"/>
              </a:rPr>
              <a:t>Problem Statement ID: </a:t>
            </a:r>
            <a:r>
              <a:rPr sz="1700" dirty="0">
                <a:solidFill>
                  <a:srgbClr val="222D34"/>
                </a:solidFill>
                <a:latin typeface="Arial"/>
              </a:rPr>
              <a:t>SIH26104</a:t>
            </a:r>
            <a:endParaRPr lang="en-US" dirty="0"/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sz="1700" b="1" dirty="0">
                <a:solidFill>
                  <a:srgbClr val="324450"/>
                </a:solidFill>
                <a:latin typeface="Arial"/>
              </a:rPr>
              <a:t>Problem Statement Title: </a:t>
            </a:r>
            <a:r>
              <a:rPr sz="1700" dirty="0">
                <a:solidFill>
                  <a:srgbClr val="222D34"/>
                </a:solidFill>
                <a:latin typeface="Arial"/>
              </a:rPr>
              <a:t>AI-Powered Real-Time Detection and Prevention of Voice Cloning Impersonation Attacks</a:t>
            </a: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sz="1700" b="1" dirty="0">
                <a:solidFill>
                  <a:srgbClr val="324450"/>
                </a:solidFill>
                <a:latin typeface="Arial"/>
              </a:rPr>
              <a:t>Theme: </a:t>
            </a:r>
            <a:r>
              <a:rPr sz="1700" dirty="0">
                <a:solidFill>
                  <a:srgbClr val="222D34"/>
                </a:solidFill>
                <a:latin typeface="Arial"/>
              </a:rPr>
              <a:t>Blockchain &amp; Cybersecurity</a:t>
            </a: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sz="1700" b="1" dirty="0">
                <a:solidFill>
                  <a:srgbClr val="324450"/>
                </a:solidFill>
                <a:latin typeface="Arial"/>
              </a:rPr>
              <a:t>PS Category: </a:t>
            </a:r>
            <a:r>
              <a:rPr sz="1700" dirty="0">
                <a:solidFill>
                  <a:srgbClr val="222D34"/>
                </a:solidFill>
                <a:latin typeface="Arial"/>
              </a:rPr>
              <a:t>Software</a:t>
            </a:r>
            <a:endParaRPr lang="en-US" sz="1700" dirty="0">
              <a:solidFill>
                <a:srgbClr val="222D34"/>
              </a:solidFill>
              <a:latin typeface="Arial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sz="1700" b="1" dirty="0">
                <a:solidFill>
                  <a:srgbClr val="324450"/>
                </a:solidFill>
                <a:latin typeface="Arial"/>
              </a:rPr>
              <a:t>Team ID: </a:t>
            </a:r>
            <a:r>
              <a:rPr lang="en-IN" dirty="0"/>
              <a:t>SIH26-A0H-T277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sz="1700" b="1" dirty="0">
                <a:solidFill>
                  <a:srgbClr val="324450"/>
                </a:solidFill>
                <a:latin typeface="Arial"/>
              </a:rPr>
              <a:t>Team Name: </a:t>
            </a:r>
            <a:r>
              <a:rPr lang="en-US" sz="1700" dirty="0">
                <a:solidFill>
                  <a:srgbClr val="222D34"/>
                </a:solidFill>
                <a:latin typeface="Arial"/>
              </a:rPr>
              <a:t>DR DOOM</a:t>
            </a:r>
            <a:endParaRPr sz="1700" dirty="0">
              <a:solidFill>
                <a:srgbClr val="222D34"/>
              </a:solidFill>
              <a:latin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4230694" y="120786"/>
            <a:ext cx="3276147" cy="713232"/>
          </a:xfrm>
        </p:spPr>
        <p:txBody>
          <a:bodyPr/>
          <a:lstStyle/>
          <a:p>
            <a:pPr algn="l" eaLnBrk="1" hangingPunct="1"/>
            <a:r>
              <a:rPr sz="3600" b="1" dirty="0">
                <a:solidFill>
                  <a:srgbClr val="324450"/>
                </a:solidFill>
                <a:latin typeface="Times New Roman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sz="1000" b="1">
                <a:solidFill>
                  <a:srgbClr val="324450"/>
                </a:solidFill>
                <a:latin typeface="Arial"/>
              </a:rPr>
              <a:t>1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algn="ctr">
              <a:defRPr/>
            </a:pPr>
            <a:r>
              <a:rPr sz="1000" b="0" dirty="0">
                <a:solidFill>
                  <a:schemeClr val="bg1"/>
                </a:solidFill>
                <a:latin typeface="Arial"/>
              </a:rPr>
              <a:t>@SIH Idea submission • 2026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TextBox 15362"/>
          <p:cNvSpPr txBox="1"/>
          <p:nvPr/>
        </p:nvSpPr>
        <p:spPr>
          <a:xfrm>
            <a:off x="594360" y="932688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24450"/>
                </a:solidFill>
                <a:latin typeface="Arial"/>
              </a:rPr>
              <a:t>VocaShield — Real-Time Voice Clone Detection &amp; Prevention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594360" y="1417320"/>
            <a:ext cx="1143000" cy="310896"/>
          </a:xfrm>
          <a:prstGeom prst="roundRect">
            <a:avLst/>
          </a:prstGeom>
          <a:solidFill>
            <a:srgbClr val="F8881E"/>
          </a:solidFill>
          <a:ln w="15240">
            <a:solidFill>
              <a:srgbClr val="F888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PROBLEM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594360" y="1783080"/>
            <a:ext cx="4709160" cy="1874519"/>
          </a:xfrm>
          <a:prstGeom prst="roundRect">
            <a:avLst/>
          </a:prstGeom>
          <a:solidFill>
            <a:srgbClr val="F5F8F9"/>
          </a:solidFill>
          <a:ln w="15240">
            <a:solidFill>
              <a:srgbClr val="E1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6" name="TextBox 15365"/>
          <p:cNvSpPr txBox="1"/>
          <p:nvPr/>
        </p:nvSpPr>
        <p:spPr>
          <a:xfrm>
            <a:off x="795528" y="1993392"/>
            <a:ext cx="4343400" cy="1417320"/>
          </a:xfrm>
          <a:prstGeom prst="rect">
            <a:avLst/>
          </a:prstGeom>
          <a:noFill/>
        </p:spPr>
        <p:txBody>
          <a:bodyPr wrap="square" lIns="73152" tIns="18288" rIns="18288" bIns="18288">
            <a:spAutoFit/>
          </a:bodyPr>
          <a:lstStyle/>
          <a:p>
            <a:pPr>
              <a:lnSpc>
                <a:spcPct val="102000"/>
              </a:lnSpc>
              <a:spcAft>
                <a:spcPts val="400"/>
              </a:spcAft>
              <a:defRPr sz="1400">
                <a:solidFill>
                  <a:srgbClr val="222D34"/>
                </a:solidFill>
                <a:latin typeface="Arial"/>
              </a:defRPr>
            </a:pPr>
            <a:r>
              <a:t>• Voice-cloning systems can imitate a person’s identity with highly realistic speech.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400">
                <a:solidFill>
                  <a:srgbClr val="222D34"/>
                </a:solidFill>
                <a:latin typeface="Arial"/>
              </a:defRPr>
            </a:pPr>
            <a:r>
              <a:t>• Impersonation can enable fraud, social engineering and unauthorized voice-based actions.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400">
                <a:solidFill>
                  <a:srgbClr val="222D34"/>
                </a:solidFill>
                <a:latin typeface="Arial"/>
              </a:defRPr>
            </a:pPr>
            <a:r>
              <a:t>• Detection must remain effective across noise, codecs, short clips and unseen generators.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5532120" y="1417320"/>
            <a:ext cx="1078992" cy="310896"/>
          </a:xfrm>
          <a:prstGeom prst="roundRect">
            <a:avLst/>
          </a:prstGeom>
          <a:solidFill>
            <a:srgbClr val="19914D"/>
          </a:solidFill>
          <a:ln w="15240">
            <a:solidFill>
              <a:srgbClr val="199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SOLUTION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5532120" y="1783080"/>
            <a:ext cx="4709160" cy="1874519"/>
          </a:xfrm>
          <a:prstGeom prst="roundRect">
            <a:avLst/>
          </a:prstGeom>
          <a:solidFill>
            <a:srgbClr val="F5F8F9"/>
          </a:solidFill>
          <a:ln w="15240">
            <a:solidFill>
              <a:srgbClr val="E1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9" name="TextBox 15368"/>
          <p:cNvSpPr txBox="1"/>
          <p:nvPr/>
        </p:nvSpPr>
        <p:spPr>
          <a:xfrm>
            <a:off x="5742432" y="1993392"/>
            <a:ext cx="4297680" cy="1417320"/>
          </a:xfrm>
          <a:prstGeom prst="rect">
            <a:avLst/>
          </a:prstGeom>
          <a:noFill/>
        </p:spPr>
        <p:txBody>
          <a:bodyPr wrap="square" lIns="73152" tIns="18288" rIns="18288" bIns="18288">
            <a:spAutoFit/>
          </a:bodyPr>
          <a:lstStyle/>
          <a:p>
            <a:pPr>
              <a:lnSpc>
                <a:spcPct val="102000"/>
              </a:lnSpc>
              <a:spcAft>
                <a:spcPts val="400"/>
              </a:spcAft>
              <a:defRPr sz="1400">
                <a:solidFill>
                  <a:srgbClr val="222D34"/>
                </a:solidFill>
                <a:latin typeface="Arial"/>
              </a:defRPr>
            </a:pPr>
            <a:r>
              <a:t>• Analyze live audio continuously and extract spectral, speaker and prosodic cues.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400">
                <a:solidFill>
                  <a:srgbClr val="222D34"/>
                </a:solidFill>
                <a:latin typeface="Arial"/>
              </a:defRPr>
            </a:pPr>
            <a:r>
              <a:t>• Fuse multiple AI signals into a calibrated real-time authenticity score.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400">
                <a:solidFill>
                  <a:srgbClr val="222D34"/>
                </a:solidFill>
                <a:latin typeface="Arial"/>
              </a:defRPr>
            </a:pPr>
            <a:r>
              <a:t>• Trigger warn → challenge → block actions based on risk and confidence.</a:t>
            </a:r>
          </a:p>
        </p:txBody>
      </p:sp>
      <p:sp>
        <p:nvSpPr>
          <p:cNvPr id="15370" name="Rounded Rectangle 15369"/>
          <p:cNvSpPr/>
          <p:nvPr/>
        </p:nvSpPr>
        <p:spPr>
          <a:xfrm>
            <a:off x="594360" y="3886200"/>
            <a:ext cx="1645920" cy="310896"/>
          </a:xfrm>
          <a:prstGeom prst="roundRect">
            <a:avLst/>
          </a:prstGeom>
          <a:solidFill>
            <a:srgbClr val="324450"/>
          </a:solidFill>
          <a:ln w="15240">
            <a:solidFill>
              <a:srgbClr val="32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HOW IT WORKS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685800" y="4315968"/>
            <a:ext cx="201168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2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324450"/>
                </a:solidFill>
                <a:latin typeface="Arial"/>
              </a:rPr>
              <a:t>LIVE AUDIO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222D34"/>
                </a:solidFill>
                <a:latin typeface="Arial"/>
              </a:rPr>
              <a:t>Call / voice note</a:t>
            </a:r>
          </a:p>
        </p:txBody>
      </p:sp>
      <p:cxnSp>
        <p:nvCxnSpPr>
          <p:cNvPr id="15372" name="Connector 15371"/>
          <p:cNvCxnSpPr/>
          <p:nvPr/>
        </p:nvCxnSpPr>
        <p:spPr>
          <a:xfrm>
            <a:off x="2697480" y="4846320"/>
            <a:ext cx="310896" cy="0"/>
          </a:xfrm>
          <a:prstGeom prst="line">
            <a:avLst/>
          </a:prstGeom>
          <a:ln w="25400">
            <a:solidFill>
              <a:srgbClr val="324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3" name="Rounded Rectangle 15372"/>
          <p:cNvSpPr/>
          <p:nvPr/>
        </p:nvSpPr>
        <p:spPr>
          <a:xfrm>
            <a:off x="3063240" y="4315968"/>
            <a:ext cx="201168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888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8881E"/>
                </a:solidFill>
                <a:latin typeface="Arial"/>
              </a:rPr>
              <a:t>AI ANALYSIS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222D34"/>
                </a:solidFill>
                <a:latin typeface="Arial"/>
              </a:rPr>
              <a:t>Spectral + speaker + prosody</a:t>
            </a:r>
          </a:p>
        </p:txBody>
      </p:sp>
      <p:cxnSp>
        <p:nvCxnSpPr>
          <p:cNvPr id="15374" name="Connector 15373"/>
          <p:cNvCxnSpPr/>
          <p:nvPr/>
        </p:nvCxnSpPr>
        <p:spPr>
          <a:xfrm>
            <a:off x="5074920" y="4846320"/>
            <a:ext cx="310896" cy="0"/>
          </a:xfrm>
          <a:prstGeom prst="line">
            <a:avLst/>
          </a:prstGeom>
          <a:ln w="25400">
            <a:solidFill>
              <a:srgbClr val="324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5" name="Rounded Rectangle 15374"/>
          <p:cNvSpPr/>
          <p:nvPr/>
        </p:nvSpPr>
        <p:spPr>
          <a:xfrm>
            <a:off x="5440680" y="4315968"/>
            <a:ext cx="201168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9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9914D"/>
                </a:solidFill>
                <a:latin typeface="Arial"/>
              </a:rPr>
              <a:t>RISK ENGINE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222D34"/>
                </a:solidFill>
                <a:latin typeface="Arial"/>
              </a:rPr>
              <a:t>Authenticity score</a:t>
            </a:r>
          </a:p>
        </p:txBody>
      </p:sp>
      <p:cxnSp>
        <p:nvCxnSpPr>
          <p:cNvPr id="15376" name="Connector 15375"/>
          <p:cNvCxnSpPr/>
          <p:nvPr/>
        </p:nvCxnSpPr>
        <p:spPr>
          <a:xfrm>
            <a:off x="7452360" y="4846320"/>
            <a:ext cx="310896" cy="0"/>
          </a:xfrm>
          <a:prstGeom prst="line">
            <a:avLst/>
          </a:prstGeom>
          <a:ln w="25400">
            <a:solidFill>
              <a:srgbClr val="324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7" name="Rounded Rectangle 15376"/>
          <p:cNvSpPr/>
          <p:nvPr/>
        </p:nvSpPr>
        <p:spPr>
          <a:xfrm>
            <a:off x="7818120" y="4315968"/>
            <a:ext cx="201168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C33737"/>
                </a:solidFill>
                <a:latin typeface="Arial"/>
              </a:rPr>
              <a:t>PROTECTION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222D34"/>
                </a:solidFill>
                <a:latin typeface="Arial"/>
              </a:rPr>
              <a:t>Warn / challenge / block</a:t>
            </a:r>
          </a:p>
        </p:txBody>
      </p:sp>
      <p:sp>
        <p:nvSpPr>
          <p:cNvPr id="15378" name="TextBox 15377"/>
          <p:cNvSpPr txBox="1"/>
          <p:nvPr/>
        </p:nvSpPr>
        <p:spPr>
          <a:xfrm>
            <a:off x="731520" y="55321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76973"/>
                </a:solidFill>
                <a:latin typeface="Arial"/>
              </a:rPr>
              <a:t>Innovation: multi-signal detection + adaptive risk response + optional privacy-preserving edge inference</a:t>
            </a:r>
          </a:p>
        </p:txBody>
      </p:sp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50329468-2C3A-E8F0-98BD-B8EDBD7EB38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22438" y="84975"/>
            <a:ext cx="175952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DR DOOM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901625" y="100585"/>
            <a:ext cx="5795807" cy="713232"/>
          </a:xfrm>
        </p:spPr>
        <p:txBody>
          <a:bodyPr/>
          <a:lstStyle/>
          <a:p>
            <a:pPr algn="l" eaLnBrk="1" hangingPunct="1"/>
            <a:r>
              <a:rPr sz="3600" b="1" dirty="0">
                <a:solidFill>
                  <a:srgbClr val="324450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sz="1000" b="1">
                <a:solidFill>
                  <a:srgbClr val="324450"/>
                </a:solidFill>
                <a:latin typeface="Arial"/>
              </a:rPr>
              <a:t>2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algn="ctr">
              <a:defRPr/>
            </a:pPr>
            <a:r>
              <a:rPr sz="1000" b="0" dirty="0">
                <a:solidFill>
                  <a:schemeClr val="bg1"/>
                </a:solidFill>
                <a:latin typeface="Arial"/>
              </a:rPr>
              <a:t>@SIH Idea submission • 2026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594360" y="91440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24450"/>
                </a:solidFill>
                <a:latin typeface="Arial"/>
              </a:rPr>
              <a:t>Proposed software stack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94360" y="1298448"/>
            <a:ext cx="4709160" cy="576072"/>
          </a:xfrm>
          <a:prstGeom prst="roundRect">
            <a:avLst/>
          </a:prstGeom>
          <a:solidFill>
            <a:srgbClr val="F5F8F9"/>
          </a:solidFill>
          <a:ln w="15240">
            <a:solidFill>
              <a:srgbClr val="E1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324450"/>
                </a:solidFill>
                <a:latin typeface="Arial"/>
              </a:rPr>
              <a:t>Audio / ML: </a:t>
            </a:r>
            <a:r>
              <a:rPr sz="1100">
                <a:solidFill>
                  <a:srgbClr val="222D34"/>
                </a:solidFill>
                <a:latin typeface="Arial"/>
              </a:rPr>
              <a:t>Python • PyTorch • torchaudio • librosa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715000" y="1298448"/>
            <a:ext cx="4709160" cy="576072"/>
          </a:xfrm>
          <a:prstGeom prst="roundRect">
            <a:avLst/>
          </a:prstGeom>
          <a:solidFill>
            <a:srgbClr val="F5F8F9"/>
          </a:solidFill>
          <a:ln w="15240">
            <a:solidFill>
              <a:srgbClr val="E1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324450"/>
                </a:solidFill>
                <a:latin typeface="Arial"/>
              </a:rPr>
              <a:t>Speech models: </a:t>
            </a:r>
            <a:r>
              <a:rPr sz="1100">
                <a:solidFill>
                  <a:srgbClr val="222D34"/>
                </a:solidFill>
                <a:latin typeface="Arial"/>
              </a:rPr>
              <a:t>Wav2Vec2 / HuBERT • ECAPA-TDNN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594360" y="2048255"/>
            <a:ext cx="4709160" cy="576072"/>
          </a:xfrm>
          <a:prstGeom prst="roundRect">
            <a:avLst/>
          </a:prstGeom>
          <a:solidFill>
            <a:srgbClr val="F5F8F9"/>
          </a:solidFill>
          <a:ln w="15240">
            <a:solidFill>
              <a:srgbClr val="E1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324450"/>
                </a:solidFill>
                <a:latin typeface="Arial"/>
              </a:rPr>
              <a:t>Backend: </a:t>
            </a:r>
            <a:r>
              <a:rPr sz="1100">
                <a:solidFill>
                  <a:srgbClr val="222D34"/>
                </a:solidFill>
                <a:latin typeface="Arial"/>
              </a:rPr>
              <a:t>FastAPI • WebSocket / WebRTC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5715000" y="2048255"/>
            <a:ext cx="4709160" cy="576072"/>
          </a:xfrm>
          <a:prstGeom prst="roundRect">
            <a:avLst/>
          </a:prstGeom>
          <a:solidFill>
            <a:srgbClr val="F5F8F9"/>
          </a:solidFill>
          <a:ln w="15240">
            <a:solidFill>
              <a:srgbClr val="E1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324450"/>
                </a:solidFill>
                <a:latin typeface="Arial"/>
              </a:rPr>
              <a:t>UI / Storage: </a:t>
            </a:r>
            <a:r>
              <a:rPr sz="1100">
                <a:solidFill>
                  <a:srgbClr val="222D34"/>
                </a:solidFill>
                <a:latin typeface="Arial"/>
              </a:rPr>
              <a:t>React • PostgreSQL • Docker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594360" y="3017520"/>
            <a:ext cx="2011680" cy="310896"/>
          </a:xfrm>
          <a:prstGeom prst="roundRect">
            <a:avLst/>
          </a:prstGeom>
          <a:solidFill>
            <a:srgbClr val="19914D"/>
          </a:solidFill>
          <a:ln w="15240">
            <a:solidFill>
              <a:srgbClr val="199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IMPLEMENTATION FLOW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594360" y="3493008"/>
            <a:ext cx="283464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2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324450"/>
                </a:solidFill>
                <a:latin typeface="Arial"/>
              </a:rPr>
              <a:t>1. Capture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222D34"/>
                </a:solidFill>
                <a:latin typeface="Arial"/>
              </a:rPr>
              <a:t>Mic / call stream</a:t>
            </a:r>
          </a:p>
        </p:txBody>
      </p:sp>
      <p:cxnSp>
        <p:nvCxnSpPr>
          <p:cNvPr id="17418" name="Connector 17417"/>
          <p:cNvCxnSpPr/>
          <p:nvPr/>
        </p:nvCxnSpPr>
        <p:spPr>
          <a:xfrm>
            <a:off x="3429000" y="3931920"/>
            <a:ext cx="457200" cy="0"/>
          </a:xfrm>
          <a:prstGeom prst="line">
            <a:avLst/>
          </a:prstGeom>
          <a:ln w="20320">
            <a:solidFill>
              <a:srgbClr val="57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9" name="Rounded Rectangle 17418"/>
          <p:cNvSpPr/>
          <p:nvPr/>
        </p:nvSpPr>
        <p:spPr>
          <a:xfrm>
            <a:off x="3995928" y="3493008"/>
            <a:ext cx="283464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888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8881E"/>
                </a:solidFill>
                <a:latin typeface="Arial"/>
              </a:rPr>
              <a:t>2. Preprocess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222D34"/>
                </a:solidFill>
                <a:latin typeface="Arial"/>
              </a:rPr>
              <a:t>VAD + denoise</a:t>
            </a:r>
          </a:p>
        </p:txBody>
      </p:sp>
      <p:cxnSp>
        <p:nvCxnSpPr>
          <p:cNvPr id="17420" name="Connector 17419"/>
          <p:cNvCxnSpPr/>
          <p:nvPr/>
        </p:nvCxnSpPr>
        <p:spPr>
          <a:xfrm>
            <a:off x="6830568" y="3931920"/>
            <a:ext cx="457200" cy="0"/>
          </a:xfrm>
          <a:prstGeom prst="line">
            <a:avLst/>
          </a:prstGeom>
          <a:ln w="20320">
            <a:solidFill>
              <a:srgbClr val="57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1" name="Rounded Rectangle 17420"/>
          <p:cNvSpPr/>
          <p:nvPr/>
        </p:nvSpPr>
        <p:spPr>
          <a:xfrm>
            <a:off x="7397496" y="3493008"/>
            <a:ext cx="283464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9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9914D"/>
                </a:solidFill>
                <a:latin typeface="Arial"/>
              </a:rPr>
              <a:t>3. Extract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222D34"/>
                </a:solidFill>
                <a:latin typeface="Arial"/>
              </a:rPr>
              <a:t>Mel + SSL embedding + prosody</a:t>
            </a:r>
          </a:p>
        </p:txBody>
      </p:sp>
      <p:cxnSp>
        <p:nvCxnSpPr>
          <p:cNvPr id="17422" name="Connector 17421"/>
          <p:cNvCxnSpPr/>
          <p:nvPr/>
        </p:nvCxnSpPr>
        <p:spPr>
          <a:xfrm>
            <a:off x="8814816" y="4361688"/>
            <a:ext cx="0" cy="228600"/>
          </a:xfrm>
          <a:prstGeom prst="line">
            <a:avLst/>
          </a:prstGeom>
          <a:ln w="20320">
            <a:solidFill>
              <a:srgbClr val="57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3" name="Rounded Rectangle 17422"/>
          <p:cNvSpPr/>
          <p:nvPr/>
        </p:nvSpPr>
        <p:spPr>
          <a:xfrm>
            <a:off x="594360" y="4608576"/>
            <a:ext cx="283464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2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324450"/>
                </a:solidFill>
                <a:latin typeface="Arial"/>
              </a:rPr>
              <a:t>4. Fuse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222D34"/>
                </a:solidFill>
                <a:latin typeface="Arial"/>
              </a:rPr>
              <a:t>Hybrid detector</a:t>
            </a:r>
          </a:p>
        </p:txBody>
      </p:sp>
      <p:cxnSp>
        <p:nvCxnSpPr>
          <p:cNvPr id="17424" name="Connector 17423"/>
          <p:cNvCxnSpPr/>
          <p:nvPr/>
        </p:nvCxnSpPr>
        <p:spPr>
          <a:xfrm>
            <a:off x="3429000" y="5047488"/>
            <a:ext cx="457200" cy="0"/>
          </a:xfrm>
          <a:prstGeom prst="line">
            <a:avLst/>
          </a:prstGeom>
          <a:ln w="20320">
            <a:solidFill>
              <a:srgbClr val="57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5" name="Rounded Rectangle 17424"/>
          <p:cNvSpPr/>
          <p:nvPr/>
        </p:nvSpPr>
        <p:spPr>
          <a:xfrm>
            <a:off x="3995928" y="4608576"/>
            <a:ext cx="283464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888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8881E"/>
                </a:solidFill>
                <a:latin typeface="Arial"/>
              </a:rPr>
              <a:t>5. Decide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222D34"/>
                </a:solidFill>
                <a:latin typeface="Arial"/>
              </a:rPr>
              <a:t>Risk score + threshold</a:t>
            </a:r>
          </a:p>
        </p:txBody>
      </p:sp>
      <p:cxnSp>
        <p:nvCxnSpPr>
          <p:cNvPr id="17426" name="Connector 17425"/>
          <p:cNvCxnSpPr/>
          <p:nvPr/>
        </p:nvCxnSpPr>
        <p:spPr>
          <a:xfrm>
            <a:off x="6830568" y="5047488"/>
            <a:ext cx="457200" cy="0"/>
          </a:xfrm>
          <a:prstGeom prst="line">
            <a:avLst/>
          </a:prstGeom>
          <a:ln w="20320">
            <a:solidFill>
              <a:srgbClr val="57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7" name="Rounded Rectangle 17426"/>
          <p:cNvSpPr/>
          <p:nvPr/>
        </p:nvSpPr>
        <p:spPr>
          <a:xfrm>
            <a:off x="7397496" y="4608576"/>
            <a:ext cx="283464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9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9914D"/>
                </a:solidFill>
                <a:latin typeface="Arial"/>
              </a:rPr>
              <a:t>6. Act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222D34"/>
                </a:solidFill>
                <a:latin typeface="Arial"/>
              </a:rPr>
              <a:t>Alert / challenge / block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685800" y="5715000"/>
            <a:ext cx="9966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76973"/>
                </a:solidFill>
                <a:latin typeface="Arial"/>
              </a:rPr>
              <a:t>Designed for real-time inference; model thresholds are calibrated on held-out and cross-generator audio.</a:t>
            </a:r>
          </a:p>
        </p:txBody>
      </p:sp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F6DBA1C5-CD72-9310-F3F1-095900B4B30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22438" y="84975"/>
            <a:ext cx="175952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DR DOOM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449741" y="105156"/>
            <a:ext cx="6534770" cy="713232"/>
          </a:xfrm>
        </p:spPr>
        <p:txBody>
          <a:bodyPr/>
          <a:lstStyle/>
          <a:p>
            <a:pPr algn="l" eaLnBrk="1" hangingPunct="1"/>
            <a:r>
              <a:rPr sz="3400" b="1" dirty="0">
                <a:solidFill>
                  <a:srgbClr val="324450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000" b="1">
                <a:solidFill>
                  <a:srgbClr val="324450"/>
                </a:solidFill>
                <a:latin typeface="Arial"/>
              </a:rPr>
              <a:t>3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0" dirty="0">
                <a:solidFill>
                  <a:schemeClr val="bg1"/>
                </a:solidFill>
                <a:latin typeface="Arial"/>
              </a:rPr>
              <a:t>@SIH Idea submission • 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594360" y="932688"/>
            <a:ext cx="10149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24450"/>
                </a:solidFill>
                <a:latin typeface="Arial"/>
              </a:rPr>
              <a:t>Why the idea is buildable within the hackathon scope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94360" y="1417320"/>
            <a:ext cx="1417320" cy="310896"/>
          </a:xfrm>
          <a:prstGeom prst="roundRect">
            <a:avLst/>
          </a:prstGeom>
          <a:solidFill>
            <a:srgbClr val="19914D"/>
          </a:solidFill>
          <a:ln w="15240">
            <a:solidFill>
              <a:srgbClr val="199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FEASIBLE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94360" y="1773936"/>
            <a:ext cx="3246120" cy="2423160"/>
          </a:xfrm>
          <a:prstGeom prst="roundRect">
            <a:avLst/>
          </a:prstGeom>
          <a:solidFill>
            <a:srgbClr val="F5F8F9"/>
          </a:solidFill>
          <a:ln w="15240">
            <a:solidFill>
              <a:srgbClr val="E1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4" name="TextBox 17413"/>
          <p:cNvSpPr txBox="1"/>
          <p:nvPr/>
        </p:nvSpPr>
        <p:spPr>
          <a:xfrm>
            <a:off x="795528" y="1993392"/>
            <a:ext cx="2834640" cy="1828800"/>
          </a:xfrm>
          <a:prstGeom prst="rect">
            <a:avLst/>
          </a:prstGeom>
          <a:noFill/>
        </p:spPr>
        <p:txBody>
          <a:bodyPr wrap="square" lIns="73152" tIns="18288" rIns="18288" bIns="18288">
            <a:spAutoFit/>
          </a:bodyPr>
          <a:lstStyle/>
          <a:p>
            <a:pPr>
              <a:lnSpc>
                <a:spcPct val="102000"/>
              </a:lnSpc>
              <a:spcAft>
                <a:spcPts val="400"/>
              </a:spcAft>
              <a:defRPr sz="1300">
                <a:solidFill>
                  <a:srgbClr val="222D34"/>
                </a:solidFill>
                <a:latin typeface="Arial"/>
              </a:defRPr>
            </a:pPr>
            <a:r>
              <a:t>• Software-only architecture; no specialized hardware required.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00">
                <a:solidFill>
                  <a:srgbClr val="222D34"/>
                </a:solidFill>
                <a:latin typeface="Arial"/>
              </a:defRPr>
            </a:pPr>
            <a:r>
              <a:t>• Open-source speech models can provide strong starting representations.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00">
                <a:solidFill>
                  <a:srgbClr val="222D34"/>
                </a:solidFill>
                <a:latin typeface="Arial"/>
              </a:defRPr>
            </a:pPr>
            <a:r>
              <a:t>• Real-time streaming can be handled through WebSocket/WebRTC services.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00">
                <a:solidFill>
                  <a:srgbClr val="222D34"/>
                </a:solidFill>
                <a:latin typeface="Arial"/>
              </a:defRPr>
            </a:pPr>
            <a:r>
              <a:t>• ASVspoof-style data can support benchmarking and validation.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133086" y="1358649"/>
            <a:ext cx="2423161" cy="369567"/>
          </a:xfrm>
          <a:prstGeom prst="roundRect">
            <a:avLst/>
          </a:prstGeom>
          <a:solidFill>
            <a:srgbClr val="F8881E"/>
          </a:solidFill>
          <a:ln w="15240">
            <a:solidFill>
              <a:srgbClr val="F888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Arial"/>
              </a:rPr>
              <a:t>KEY CHALLENGES → MITIGATION</a:t>
            </a:r>
          </a:p>
        </p:txBody>
      </p:sp>
      <p:sp>
        <p:nvSpPr>
          <p:cNvPr id="17416" name="Rectangle 17415"/>
          <p:cNvSpPr/>
          <p:nvPr/>
        </p:nvSpPr>
        <p:spPr>
          <a:xfrm>
            <a:off x="4133087" y="1783080"/>
            <a:ext cx="2423160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324450"/>
                </a:solidFill>
                <a:latin typeface="Arial"/>
              </a:rPr>
              <a:t>Unseen clone models</a:t>
            </a:r>
          </a:p>
        </p:txBody>
      </p:sp>
      <p:sp>
        <p:nvSpPr>
          <p:cNvPr id="17417" name="Rectangle 17416"/>
          <p:cNvSpPr/>
          <p:nvPr/>
        </p:nvSpPr>
        <p:spPr>
          <a:xfrm>
            <a:off x="6556248" y="1783080"/>
            <a:ext cx="3611880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0">
                <a:solidFill>
                  <a:srgbClr val="222D34"/>
                </a:solidFill>
                <a:latin typeface="Arial"/>
              </a:rPr>
              <a:t>Augment with multiple generators; cross-generator validation</a:t>
            </a:r>
          </a:p>
        </p:txBody>
      </p:sp>
      <p:sp>
        <p:nvSpPr>
          <p:cNvPr id="17418" name="Rectangle 17417"/>
          <p:cNvSpPr/>
          <p:nvPr/>
        </p:nvSpPr>
        <p:spPr>
          <a:xfrm>
            <a:off x="4133087" y="2240280"/>
            <a:ext cx="2423160" cy="457200"/>
          </a:xfrm>
          <a:prstGeom prst="rect">
            <a:avLst/>
          </a:prstGeom>
          <a:solidFill>
            <a:srgbClr val="F5F8F9"/>
          </a:solidFill>
          <a:ln w="1524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324450"/>
                </a:solidFill>
                <a:latin typeface="Arial"/>
              </a:rPr>
              <a:t>Compression / noise</a:t>
            </a:r>
          </a:p>
        </p:txBody>
      </p:sp>
      <p:sp>
        <p:nvSpPr>
          <p:cNvPr id="17419" name="Rectangle 17418"/>
          <p:cNvSpPr/>
          <p:nvPr/>
        </p:nvSpPr>
        <p:spPr>
          <a:xfrm>
            <a:off x="6556248" y="2240280"/>
            <a:ext cx="3611880" cy="457200"/>
          </a:xfrm>
          <a:prstGeom prst="rect">
            <a:avLst/>
          </a:prstGeom>
          <a:solidFill>
            <a:srgbClr val="F5F8F9"/>
          </a:solidFill>
          <a:ln w="1524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0">
                <a:solidFill>
                  <a:srgbClr val="222D34"/>
                </a:solidFill>
                <a:latin typeface="Arial"/>
              </a:rPr>
              <a:t>Codec, channel and noise augmentation</a:t>
            </a:r>
          </a:p>
        </p:txBody>
      </p:sp>
      <p:sp>
        <p:nvSpPr>
          <p:cNvPr id="17420" name="Rectangle 17419"/>
          <p:cNvSpPr/>
          <p:nvPr/>
        </p:nvSpPr>
        <p:spPr>
          <a:xfrm>
            <a:off x="4133087" y="2697480"/>
            <a:ext cx="2423160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324450"/>
                </a:solidFill>
                <a:latin typeface="Arial"/>
              </a:rPr>
              <a:t>False positives</a:t>
            </a:r>
          </a:p>
        </p:txBody>
      </p:sp>
      <p:sp>
        <p:nvSpPr>
          <p:cNvPr id="17421" name="Rectangle 17420"/>
          <p:cNvSpPr/>
          <p:nvPr/>
        </p:nvSpPr>
        <p:spPr>
          <a:xfrm>
            <a:off x="6556248" y="2697480"/>
            <a:ext cx="3611880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0">
                <a:solidFill>
                  <a:srgbClr val="222D34"/>
                </a:solidFill>
                <a:latin typeface="Arial"/>
              </a:rPr>
              <a:t>Calibrated thresholds + confidence bands</a:t>
            </a:r>
          </a:p>
        </p:txBody>
      </p:sp>
      <p:sp>
        <p:nvSpPr>
          <p:cNvPr id="17422" name="Rectangle 17421"/>
          <p:cNvSpPr/>
          <p:nvPr/>
        </p:nvSpPr>
        <p:spPr>
          <a:xfrm>
            <a:off x="4133087" y="3154680"/>
            <a:ext cx="2423160" cy="457200"/>
          </a:xfrm>
          <a:prstGeom prst="rect">
            <a:avLst/>
          </a:prstGeom>
          <a:solidFill>
            <a:srgbClr val="F5F8F9"/>
          </a:solidFill>
          <a:ln w="1524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324450"/>
                </a:solidFill>
                <a:latin typeface="Arial"/>
              </a:rPr>
              <a:t>Low latency</a:t>
            </a:r>
          </a:p>
        </p:txBody>
      </p:sp>
      <p:sp>
        <p:nvSpPr>
          <p:cNvPr id="17423" name="Rectangle 17422"/>
          <p:cNvSpPr/>
          <p:nvPr/>
        </p:nvSpPr>
        <p:spPr>
          <a:xfrm>
            <a:off x="6556248" y="3154680"/>
            <a:ext cx="3611880" cy="457200"/>
          </a:xfrm>
          <a:prstGeom prst="rect">
            <a:avLst/>
          </a:prstGeom>
          <a:solidFill>
            <a:srgbClr val="F5F8F9"/>
          </a:solidFill>
          <a:ln w="1524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0">
                <a:solidFill>
                  <a:srgbClr val="222D34"/>
                </a:solidFill>
                <a:latin typeface="Arial"/>
              </a:rPr>
              <a:t>Lightweight inference path + early-exit scoring</a:t>
            </a:r>
          </a:p>
        </p:txBody>
      </p:sp>
      <p:sp>
        <p:nvSpPr>
          <p:cNvPr id="17424" name="Rectangle 17423"/>
          <p:cNvSpPr/>
          <p:nvPr/>
        </p:nvSpPr>
        <p:spPr>
          <a:xfrm>
            <a:off x="4133087" y="3611880"/>
            <a:ext cx="2423160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324450"/>
                </a:solidFill>
                <a:latin typeface="Arial"/>
              </a:rPr>
              <a:t>Adaptive attackers</a:t>
            </a:r>
          </a:p>
        </p:txBody>
      </p:sp>
      <p:sp>
        <p:nvSpPr>
          <p:cNvPr id="17425" name="Rectangle 17424"/>
          <p:cNvSpPr/>
          <p:nvPr/>
        </p:nvSpPr>
        <p:spPr>
          <a:xfrm>
            <a:off x="6556248" y="3611880"/>
            <a:ext cx="3611880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0">
                <a:solidFill>
                  <a:srgbClr val="222D34"/>
                </a:solidFill>
                <a:latin typeface="Arial"/>
              </a:rPr>
              <a:t>Periodic retraining + attack simulation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594360" y="4462272"/>
            <a:ext cx="1417320" cy="310896"/>
          </a:xfrm>
          <a:prstGeom prst="roundRect">
            <a:avLst/>
          </a:prstGeom>
          <a:solidFill>
            <a:srgbClr val="324450"/>
          </a:solidFill>
          <a:ln w="15240">
            <a:solidFill>
              <a:srgbClr val="32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VIABILITY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594360" y="4818888"/>
            <a:ext cx="10030968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2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8" name="TextBox 17427"/>
          <p:cNvSpPr txBox="1"/>
          <p:nvPr/>
        </p:nvSpPr>
        <p:spPr>
          <a:xfrm>
            <a:off x="777240" y="5020056"/>
            <a:ext cx="9646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324450"/>
                </a:solidFill>
                <a:latin typeface="Arial"/>
              </a:rPr>
              <a:t>Deploy as an API + browser/mobile client first; later integrate with telecom, banking and enterprise identity workflows.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685800" y="5733288"/>
            <a:ext cx="9966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76973"/>
                </a:solidFill>
                <a:latin typeface="Arial"/>
              </a:rPr>
              <a:t>Prototype target: near-real-time risk scoring with explainable detection cues and safe intervention paths.</a:t>
            </a:r>
          </a:p>
        </p:txBody>
      </p:sp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4052E3FC-E538-2C9E-E60A-118CEFE59EF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22438" y="84975"/>
            <a:ext cx="175952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DR DOOM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186578" y="104537"/>
            <a:ext cx="5501640" cy="713232"/>
          </a:xfrm>
        </p:spPr>
        <p:txBody>
          <a:bodyPr/>
          <a:lstStyle/>
          <a:p>
            <a:pPr algn="l" eaLnBrk="1" hangingPunct="1"/>
            <a:r>
              <a:rPr sz="3600" b="1" dirty="0">
                <a:solidFill>
                  <a:srgbClr val="324450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000" b="1">
                <a:solidFill>
                  <a:srgbClr val="324450"/>
                </a:solidFill>
                <a:latin typeface="Arial"/>
              </a:rPr>
              <a:t>4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0" dirty="0">
                <a:solidFill>
                  <a:schemeClr val="bg1"/>
                </a:solidFill>
                <a:latin typeface="Arial"/>
              </a:rPr>
              <a:t>@SIH Idea submission • 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594360" y="91440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24450"/>
                </a:solidFill>
                <a:latin typeface="Arial"/>
              </a:rPr>
              <a:t>Protection outcomes across high-risk voice channels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94360" y="1417320"/>
            <a:ext cx="4709160" cy="841248"/>
          </a:xfrm>
          <a:prstGeom prst="roundRect">
            <a:avLst/>
          </a:prstGeom>
          <a:solidFill>
            <a:srgbClr val="F5F8F9"/>
          </a:solidFill>
          <a:ln w="15240">
            <a:solidFill>
              <a:srgbClr val="E1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324450"/>
                </a:solidFill>
                <a:latin typeface="Arial"/>
              </a:rPr>
              <a:t>BANKING</a:t>
            </a:r>
          </a:p>
          <a:p>
            <a:pPr algn="ctr"/>
            <a:r>
              <a:rPr sz="1000">
                <a:solidFill>
                  <a:srgbClr val="222D34"/>
                </a:solidFill>
                <a:latin typeface="Arial"/>
              </a:rPr>
              <a:t>Account verification • fraud calls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715000" y="1417320"/>
            <a:ext cx="4709160" cy="841248"/>
          </a:xfrm>
          <a:prstGeom prst="roundRect">
            <a:avLst/>
          </a:prstGeom>
          <a:solidFill>
            <a:srgbClr val="F5F8F9"/>
          </a:solidFill>
          <a:ln w="15240">
            <a:solidFill>
              <a:srgbClr val="E1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8881E"/>
                </a:solidFill>
                <a:latin typeface="Arial"/>
              </a:rPr>
              <a:t>TELECOM</a:t>
            </a:r>
          </a:p>
          <a:p>
            <a:pPr algn="ctr"/>
            <a:r>
              <a:rPr sz="1000">
                <a:solidFill>
                  <a:srgbClr val="222D34"/>
                </a:solidFill>
                <a:latin typeface="Arial"/>
              </a:rPr>
              <a:t>Caller impersonation • SIM/social engineering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594360" y="2468880"/>
            <a:ext cx="4709160" cy="841248"/>
          </a:xfrm>
          <a:prstGeom prst="roundRect">
            <a:avLst/>
          </a:prstGeom>
          <a:solidFill>
            <a:srgbClr val="F5F8F9"/>
          </a:solidFill>
          <a:ln w="15240">
            <a:solidFill>
              <a:srgbClr val="E1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9914D"/>
                </a:solidFill>
                <a:latin typeface="Arial"/>
              </a:rPr>
              <a:t>ENTERPRISE</a:t>
            </a:r>
          </a:p>
          <a:p>
            <a:pPr algn="ctr"/>
            <a:r>
              <a:rPr sz="1000">
                <a:solidFill>
                  <a:srgbClr val="222D34"/>
                </a:solidFill>
                <a:latin typeface="Arial"/>
              </a:rPr>
              <a:t>Executive impersonation • approvals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5715000" y="2468880"/>
            <a:ext cx="4709160" cy="841248"/>
          </a:xfrm>
          <a:prstGeom prst="roundRect">
            <a:avLst/>
          </a:prstGeom>
          <a:solidFill>
            <a:srgbClr val="F5F8F9"/>
          </a:solidFill>
          <a:ln w="15240">
            <a:solidFill>
              <a:srgbClr val="E1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C33737"/>
                </a:solidFill>
                <a:latin typeface="Arial"/>
              </a:rPr>
              <a:t>PUBLIC / PERSONAL</a:t>
            </a:r>
          </a:p>
          <a:p>
            <a:pPr algn="ctr"/>
            <a:r>
              <a:rPr sz="1000">
                <a:solidFill>
                  <a:srgbClr val="222D34"/>
                </a:solidFill>
                <a:latin typeface="Arial"/>
              </a:rPr>
              <a:t>Emergency scams • identity misuse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594360" y="3703320"/>
            <a:ext cx="1600200" cy="310896"/>
          </a:xfrm>
          <a:prstGeom prst="roundRect">
            <a:avLst/>
          </a:prstGeom>
          <a:solidFill>
            <a:srgbClr val="19914D"/>
          </a:solidFill>
          <a:ln w="15240">
            <a:solidFill>
              <a:srgbClr val="199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CORE BENEFITS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685800" y="4096512"/>
            <a:ext cx="1847088" cy="12618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8" name="TextBox 17417"/>
          <p:cNvSpPr txBox="1"/>
          <p:nvPr/>
        </p:nvSpPr>
        <p:spPr>
          <a:xfrm>
            <a:off x="758952" y="4169664"/>
            <a:ext cx="3840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24450"/>
                </a:solidFill>
                <a:latin typeface="Arial"/>
              </a:rPr>
              <a:t>1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1143000" y="4169664"/>
            <a:ext cx="1298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24450"/>
                </a:solidFill>
                <a:latin typeface="Arial"/>
              </a:rPr>
              <a:t>Faster detection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777240" y="4617720"/>
            <a:ext cx="1664208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222D34"/>
                </a:solidFill>
                <a:latin typeface="Arial"/>
              </a:rPr>
              <a:t>Flags suspicious audio before a risky action completes.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2697480" y="4096512"/>
            <a:ext cx="1847088" cy="12618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2" name="TextBox 17421"/>
          <p:cNvSpPr txBox="1"/>
          <p:nvPr/>
        </p:nvSpPr>
        <p:spPr>
          <a:xfrm>
            <a:off x="2770632" y="4169664"/>
            <a:ext cx="3840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324450"/>
                </a:solidFill>
                <a:latin typeface="Arial"/>
              </a:rPr>
              <a:t>4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3154680" y="4169664"/>
            <a:ext cx="1298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24450"/>
                </a:solidFill>
                <a:latin typeface="Arial"/>
              </a:rPr>
              <a:t>Lower social-engineering risk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2788920" y="4617720"/>
            <a:ext cx="1664208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222D34"/>
                </a:solidFill>
                <a:latin typeface="Arial"/>
              </a:rPr>
              <a:t>Adds a machine-check to voice-only verification.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4709160" y="4096512"/>
            <a:ext cx="1847088" cy="12618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6" name="TextBox 17425"/>
          <p:cNvSpPr txBox="1"/>
          <p:nvPr/>
        </p:nvSpPr>
        <p:spPr>
          <a:xfrm>
            <a:off x="4782312" y="4169664"/>
            <a:ext cx="3840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324450"/>
                </a:solidFill>
                <a:latin typeface="Arial"/>
              </a:rPr>
              <a:t>4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5166360" y="4169664"/>
            <a:ext cx="1298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24450"/>
                </a:solidFill>
                <a:latin typeface="Arial"/>
              </a:rPr>
              <a:t>Privacy-aware deployment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4800600" y="4617720"/>
            <a:ext cx="1664208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222D34"/>
                </a:solidFill>
                <a:latin typeface="Arial"/>
              </a:rPr>
              <a:t>Supports on-device / edge inference where feasible.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6720840" y="4096512"/>
            <a:ext cx="1847088" cy="12618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0" name="TextBox 17429"/>
          <p:cNvSpPr txBox="1"/>
          <p:nvPr/>
        </p:nvSpPr>
        <p:spPr>
          <a:xfrm>
            <a:off x="6793992" y="4169664"/>
            <a:ext cx="3840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324450"/>
                </a:solidFill>
                <a:latin typeface="Arial"/>
              </a:rPr>
              <a:t>4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7178040" y="4169664"/>
            <a:ext cx="1298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24450"/>
                </a:solidFill>
                <a:latin typeface="Arial"/>
              </a:rPr>
              <a:t>Actionable response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6812280" y="4617720"/>
            <a:ext cx="1664208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222D34"/>
                </a:solidFill>
                <a:latin typeface="Arial"/>
              </a:rPr>
              <a:t>Converts a detection signal into warn, challenge or block.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8732520" y="4096512"/>
            <a:ext cx="1847088" cy="12618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4" name="TextBox 17433"/>
          <p:cNvSpPr txBox="1"/>
          <p:nvPr/>
        </p:nvSpPr>
        <p:spPr>
          <a:xfrm>
            <a:off x="8805672" y="4169664"/>
            <a:ext cx="3840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324450"/>
                </a:solidFill>
                <a:latin typeface="Arial"/>
              </a:rPr>
              <a:t>4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9189720" y="4169664"/>
            <a:ext cx="1298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24450"/>
                </a:solidFill>
                <a:latin typeface="Arial"/>
              </a:rPr>
              <a:t>Auditability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8823960" y="4617720"/>
            <a:ext cx="1664208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222D34"/>
                </a:solidFill>
                <a:latin typeface="Arial"/>
              </a:rPr>
              <a:t>Stores risk events and decisions for review and incident response.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685800" y="5577840"/>
            <a:ext cx="9966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324450"/>
                </a:solidFill>
                <a:latin typeface="Arial"/>
              </a:rPr>
              <a:t>Net effect: move voice authentication from “trust the voice” to “verify the signal”.</a:t>
            </a:r>
          </a:p>
        </p:txBody>
      </p:sp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490DB0D2-A12E-9C35-192C-69A8F656CE9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22438" y="84975"/>
            <a:ext cx="175952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DR DOOM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608167" y="94229"/>
            <a:ext cx="6672993" cy="713232"/>
          </a:xfrm>
        </p:spPr>
        <p:txBody>
          <a:bodyPr/>
          <a:lstStyle/>
          <a:p>
            <a:pPr algn="l" eaLnBrk="1" hangingPunct="1"/>
            <a:r>
              <a:rPr sz="3400" b="1" dirty="0">
                <a:solidFill>
                  <a:srgbClr val="324450"/>
                </a:solidFill>
                <a:latin typeface="Times New Roman"/>
              </a:rP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000" b="1">
                <a:solidFill>
                  <a:srgbClr val="324450"/>
                </a:solidFill>
                <a:latin typeface="Arial"/>
              </a:rPr>
              <a:t>5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0" dirty="0">
                <a:solidFill>
                  <a:schemeClr val="bg1"/>
                </a:solidFill>
                <a:latin typeface="Arial"/>
              </a:rPr>
              <a:t>@SIH Idea submission • 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594360" y="93268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24450"/>
                </a:solidFill>
                <a:latin typeface="Arial"/>
              </a:rPr>
              <a:t>Reference work informing the proposed architecture</a:t>
            </a:r>
          </a:p>
        </p:txBody>
      </p:sp>
      <p:sp>
        <p:nvSpPr>
          <p:cNvPr id="17412" name="Oval 17411"/>
          <p:cNvSpPr/>
          <p:nvPr/>
        </p:nvSpPr>
        <p:spPr>
          <a:xfrm>
            <a:off x="640080" y="1353312"/>
            <a:ext cx="329184" cy="329184"/>
          </a:xfrm>
          <a:prstGeom prst="ellipse">
            <a:avLst/>
          </a:prstGeom>
          <a:solidFill>
            <a:srgbClr val="324450"/>
          </a:solidFill>
          <a:ln>
            <a:solidFill>
              <a:srgbClr val="32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13" name="TextBox 17412"/>
          <p:cNvSpPr txBox="1"/>
          <p:nvPr/>
        </p:nvSpPr>
        <p:spPr>
          <a:xfrm>
            <a:off x="1078992" y="1335024"/>
            <a:ext cx="192024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1100" b="1" dirty="0">
                <a:solidFill>
                  <a:srgbClr val="324450"/>
                </a:solidFill>
                <a:latin typeface="Arial"/>
              </a:rPr>
              <a:t>Yamagishi</a:t>
            </a:r>
            <a:endParaRPr sz="1100" b="1" dirty="0">
              <a:solidFill>
                <a:srgbClr val="324450"/>
              </a:solidFill>
              <a:latin typeface="Arial"/>
            </a:endParaRPr>
          </a:p>
        </p:txBody>
      </p:sp>
      <p:sp>
        <p:nvSpPr>
          <p:cNvPr id="17414" name="TextBox 17413"/>
          <p:cNvSpPr txBox="1"/>
          <p:nvPr/>
        </p:nvSpPr>
        <p:spPr>
          <a:xfrm>
            <a:off x="2788920" y="1335024"/>
            <a:ext cx="5120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dirty="0" err="1">
                <a:solidFill>
                  <a:srgbClr val="222D34"/>
                </a:solidFill>
                <a:latin typeface="Arial"/>
              </a:rPr>
              <a:t>ASVspoof</a:t>
            </a:r>
            <a:r>
              <a:rPr sz="1000" b="0" dirty="0">
                <a:solidFill>
                  <a:srgbClr val="222D34"/>
                </a:solidFill>
                <a:latin typeface="Arial"/>
              </a:rPr>
              <a:t> 2021: accelerating progress in spoofed and deepfake speech detection.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7909560" y="1335024"/>
            <a:ext cx="27432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76973"/>
                </a:solidFill>
                <a:latin typeface="Arial"/>
              </a:rPr>
              <a:t>arXiv:2109.00537 / IEEE Odyssey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1078992" y="2084831"/>
            <a:ext cx="192024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100" b="1" dirty="0" err="1">
                <a:solidFill>
                  <a:srgbClr val="324450"/>
                </a:solidFill>
                <a:latin typeface="Arial"/>
              </a:rPr>
              <a:t>Xuecheb</a:t>
            </a:r>
            <a:r>
              <a:rPr lang="en-US" sz="1100" b="1" dirty="0">
                <a:solidFill>
                  <a:srgbClr val="324450"/>
                </a:solidFill>
                <a:latin typeface="Arial"/>
              </a:rPr>
              <a:t> </a:t>
            </a:r>
            <a:r>
              <a:rPr sz="1100" b="1" dirty="0">
                <a:solidFill>
                  <a:srgbClr val="324450"/>
                </a:solidFill>
                <a:latin typeface="Arial"/>
              </a:rPr>
              <a:t>Liu 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2788920" y="2084831"/>
            <a:ext cx="5120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dirty="0" err="1">
                <a:solidFill>
                  <a:srgbClr val="222D34"/>
                </a:solidFill>
                <a:latin typeface="Arial"/>
              </a:rPr>
              <a:t>ASVspoof</a:t>
            </a:r>
            <a:r>
              <a:rPr sz="1000" b="0" dirty="0">
                <a:solidFill>
                  <a:srgbClr val="222D34"/>
                </a:solidFill>
                <a:latin typeface="Arial"/>
              </a:rPr>
              <a:t> 2021: Towards Spoofed and Deepfake Speech Detection in the Wild.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7909560" y="2084831"/>
            <a:ext cx="27432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dirty="0">
                <a:solidFill>
                  <a:srgbClr val="576973"/>
                </a:solidFill>
                <a:latin typeface="Arial"/>
              </a:rPr>
              <a:t>arXiv:2210.02437 / IEEE TIFS</a:t>
            </a:r>
          </a:p>
        </p:txBody>
      </p:sp>
      <p:sp>
        <p:nvSpPr>
          <p:cNvPr id="17420" name="Oval 17419"/>
          <p:cNvSpPr/>
          <p:nvPr/>
        </p:nvSpPr>
        <p:spPr>
          <a:xfrm>
            <a:off x="640080" y="2852928"/>
            <a:ext cx="329184" cy="329184"/>
          </a:xfrm>
          <a:prstGeom prst="ellipse">
            <a:avLst/>
          </a:prstGeom>
          <a:solidFill>
            <a:srgbClr val="324450"/>
          </a:solidFill>
          <a:ln>
            <a:solidFill>
              <a:srgbClr val="32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324450"/>
                </a:solidFill>
                <a:latin typeface="Arial"/>
              </a:rPr>
              <a:t>5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1078992" y="2834640"/>
            <a:ext cx="192024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100" b="1" dirty="0" err="1">
                <a:solidFill>
                  <a:srgbClr val="324450"/>
                </a:solidFill>
                <a:latin typeface="Arial"/>
              </a:rPr>
              <a:t>Xinhui</a:t>
            </a:r>
            <a:r>
              <a:rPr lang="en-US" sz="1100" b="1" dirty="0">
                <a:solidFill>
                  <a:srgbClr val="324450"/>
                </a:solidFill>
                <a:latin typeface="Arial"/>
              </a:rPr>
              <a:t> </a:t>
            </a:r>
            <a:r>
              <a:rPr sz="1100" b="1" dirty="0">
                <a:solidFill>
                  <a:srgbClr val="324450"/>
                </a:solidFill>
                <a:latin typeface="Arial"/>
              </a:rPr>
              <a:t>Chen 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2788920" y="2834640"/>
            <a:ext cx="5120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dirty="0">
                <a:solidFill>
                  <a:srgbClr val="222D34"/>
                </a:solidFill>
                <a:latin typeface="Arial"/>
              </a:rPr>
              <a:t>UR Channel-Robust Synthetic Speech Detection System for </a:t>
            </a:r>
            <a:r>
              <a:rPr sz="1000" b="0" dirty="0" err="1">
                <a:solidFill>
                  <a:srgbClr val="222D34"/>
                </a:solidFill>
                <a:latin typeface="Arial"/>
              </a:rPr>
              <a:t>ASVspoof</a:t>
            </a:r>
            <a:r>
              <a:rPr sz="1000" b="0" dirty="0">
                <a:solidFill>
                  <a:srgbClr val="222D34"/>
                </a:solidFill>
                <a:latin typeface="Arial"/>
              </a:rPr>
              <a:t> 2021.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7909560" y="2834640"/>
            <a:ext cx="27432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dirty="0">
                <a:solidFill>
                  <a:srgbClr val="576973"/>
                </a:solidFill>
                <a:latin typeface="Arial"/>
              </a:rPr>
              <a:t>arXiv:2107.12018</a:t>
            </a:r>
          </a:p>
        </p:txBody>
      </p:sp>
      <p:sp>
        <p:nvSpPr>
          <p:cNvPr id="17424" name="Oval 17423"/>
          <p:cNvSpPr/>
          <p:nvPr/>
        </p:nvSpPr>
        <p:spPr>
          <a:xfrm>
            <a:off x="640080" y="3602736"/>
            <a:ext cx="329184" cy="329184"/>
          </a:xfrm>
          <a:prstGeom prst="ellipse">
            <a:avLst/>
          </a:prstGeom>
          <a:solidFill>
            <a:srgbClr val="324450"/>
          </a:solidFill>
          <a:ln>
            <a:solidFill>
              <a:srgbClr val="32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324450"/>
                </a:solidFill>
                <a:latin typeface="Arial"/>
              </a:rPr>
              <a:t>5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1078992" y="3584448"/>
            <a:ext cx="192024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050" b="1" dirty="0">
                <a:latin typeface="Arial" panose="020B0604020202020204" pitchFamily="34" charset="0"/>
                <a:cs typeface="Arial" panose="020B0604020202020204" pitchFamily="34" charset="0"/>
              </a:rPr>
              <a:t>Pandula </a:t>
            </a:r>
            <a:r>
              <a:rPr lang="en-IN" sz="1050" b="1" dirty="0" err="1">
                <a:latin typeface="Arial" panose="020B0604020202020204" pitchFamily="34" charset="0"/>
                <a:cs typeface="Arial" panose="020B0604020202020204" pitchFamily="34" charset="0"/>
              </a:rPr>
              <a:t>Pallewatta</a:t>
            </a:r>
            <a:endParaRPr sz="700" b="1" dirty="0">
              <a:solidFill>
                <a:srgbClr val="3244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26" name="TextBox 17425"/>
          <p:cNvSpPr txBox="1"/>
          <p:nvPr/>
        </p:nvSpPr>
        <p:spPr>
          <a:xfrm>
            <a:off x="2788920" y="3584448"/>
            <a:ext cx="5120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dirty="0">
                <a:solidFill>
                  <a:srgbClr val="222D34"/>
                </a:solidFill>
                <a:latin typeface="Arial"/>
              </a:rPr>
              <a:t>Human Voice Synthesis and Cloning Using Generative AI Models: A Comprehensive Review.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7909560" y="3584448"/>
            <a:ext cx="27432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76973"/>
                </a:solidFill>
                <a:latin typeface="Arial"/>
              </a:rPr>
              <a:t>IEEE ICECIE 2025; DOI: 10.1109/ICECIE66637.2025.11363848</a:t>
            </a:r>
          </a:p>
        </p:txBody>
      </p:sp>
      <p:sp>
        <p:nvSpPr>
          <p:cNvPr id="17428" name="Oval 17427"/>
          <p:cNvSpPr/>
          <p:nvPr/>
        </p:nvSpPr>
        <p:spPr>
          <a:xfrm>
            <a:off x="640080" y="4352544"/>
            <a:ext cx="329184" cy="329184"/>
          </a:xfrm>
          <a:prstGeom prst="ellipse">
            <a:avLst/>
          </a:prstGeom>
          <a:solidFill>
            <a:srgbClr val="324450"/>
          </a:solidFill>
          <a:ln>
            <a:solidFill>
              <a:srgbClr val="32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324450"/>
                </a:solidFill>
                <a:latin typeface="Arial"/>
              </a:rPr>
              <a:t>5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1078992" y="4334256"/>
            <a:ext cx="192024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100" b="1" dirty="0"/>
              <a:t>Rekha Rani</a:t>
            </a:r>
            <a:endParaRPr sz="1100" b="1" dirty="0">
              <a:solidFill>
                <a:srgbClr val="324450"/>
              </a:solidFill>
              <a:latin typeface="Arial"/>
            </a:endParaRPr>
          </a:p>
        </p:txBody>
      </p:sp>
      <p:sp>
        <p:nvSpPr>
          <p:cNvPr id="17430" name="TextBox 17429"/>
          <p:cNvSpPr txBox="1"/>
          <p:nvPr/>
        </p:nvSpPr>
        <p:spPr>
          <a:xfrm>
            <a:off x="2788920" y="4334256"/>
            <a:ext cx="5120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dirty="0">
                <a:solidFill>
                  <a:srgbClr val="222D34"/>
                </a:solidFill>
                <a:latin typeface="Arial"/>
              </a:rPr>
              <a:t>Voice Spoofing in the Era of Deepfakes: Machine Learning Challenges and Solutions.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7909560" y="4334256"/>
            <a:ext cx="27432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76973"/>
                </a:solidFill>
                <a:latin typeface="Arial"/>
              </a:rPr>
              <a:t>IEEE conference publication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594360" y="5199133"/>
            <a:ext cx="1508760" cy="342131"/>
          </a:xfrm>
          <a:prstGeom prst="roundRect">
            <a:avLst/>
          </a:prstGeom>
          <a:solidFill>
            <a:srgbClr val="F8881E"/>
          </a:solidFill>
          <a:ln w="15240">
            <a:solidFill>
              <a:srgbClr val="F888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RESEARCH TAKEAWAY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594360" y="5559552"/>
            <a:ext cx="10012680" cy="502920"/>
          </a:xfrm>
          <a:prstGeom prst="roundRect">
            <a:avLst/>
          </a:prstGeom>
          <a:solidFill>
            <a:srgbClr val="F5F8F9"/>
          </a:solidFill>
          <a:ln w="15240">
            <a:solidFill>
              <a:srgbClr val="E1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4" name="TextBox 17433"/>
          <p:cNvSpPr txBox="1"/>
          <p:nvPr/>
        </p:nvSpPr>
        <p:spPr>
          <a:xfrm>
            <a:off x="777240" y="5650992"/>
            <a:ext cx="9646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324450"/>
                </a:solidFill>
                <a:latin typeface="Arial"/>
              </a:rPr>
              <a:t>Robustness to compression, channel variation and unseen generators is a key detection challenge — so VocaShield emphasizes augmentation, calibration and cross-generator validation.</a:t>
            </a:r>
          </a:p>
        </p:txBody>
      </p:sp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B4A30435-DD31-7970-79B8-43650B22EA5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22438" y="84975"/>
            <a:ext cx="175952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DR DOOM</a:t>
            </a:r>
            <a:endParaRPr lang="en-IN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82FA49E-18D7-B3A8-AD3D-FDC70E40B3E7}"/>
              </a:ext>
            </a:extLst>
          </p:cNvPr>
          <p:cNvSpPr/>
          <p:nvPr/>
        </p:nvSpPr>
        <p:spPr>
          <a:xfrm>
            <a:off x="640080" y="2059330"/>
            <a:ext cx="329184" cy="329184"/>
          </a:xfrm>
          <a:prstGeom prst="ellipse">
            <a:avLst/>
          </a:prstGeom>
          <a:solidFill>
            <a:srgbClr val="324450"/>
          </a:solidFill>
          <a:ln>
            <a:solidFill>
              <a:srgbClr val="32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 b="1" dirty="0">
              <a:solidFill>
                <a:srgbClr val="FFFFF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7507</TotalTime>
  <Words>715</Words>
  <Application>Microsoft Office PowerPoint</Application>
  <PresentationFormat>Widescreen</PresentationFormat>
  <Paragraphs>138</Paragraphs>
  <Slides>6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SMART INDIA HACKATHON 2026</vt:lpstr>
      <vt:lpstr>IDEA TITLE</vt:lpstr>
      <vt:lpstr>TECHNICAL APPROACH</vt:lpstr>
      <vt:lpstr>FEASIBILITY AND VIABILITY</vt:lpstr>
      <vt:lpstr>IMPACT AND BENEFITS</vt:lpstr>
      <vt:lpstr>RESEARCH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sree harshith</cp:lastModifiedBy>
  <cp:revision>153</cp:revision>
  <dcterms:created xsi:type="dcterms:W3CDTF">2013-12-12T18:46:50Z</dcterms:created>
  <dcterms:modified xsi:type="dcterms:W3CDTF">2026-08-30T13:04:05Z</dcterms:modified>
  <cp:category/>
</cp:coreProperties>
</file>